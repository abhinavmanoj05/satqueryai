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Noto Sans Arabic" charset="1" panose="020B0502040504020204"/>
      <p:regular r:id="rId13"/>
    </p:embeddedFont>
    <p:embeddedFont>
      <p:font typeface="Arial" charset="1" panose="020B0604020202020204"/>
      <p:regular r:id="rId14"/>
    </p:embeddedFont>
    <p:embeddedFont>
      <p:font typeface="Arial Bold" charset="1" panose="020B0704020202020204"/>
      <p:regular r:id="rId15"/>
    </p:embeddedFont>
    <p:embeddedFont>
      <p:font typeface="Calibri (MS)" charset="1" panose="020F0502020204030204"/>
      <p:regular r:id="rId16"/>
    </p:embeddedFont>
    <p:embeddedFont>
      <p:font typeface="Calibri (MS) Bold" charset="1" panose="020F070203040403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0740" y="0"/>
            <a:ext cx="13906500" cy="10287000"/>
            <a:chOff x="0" y="0"/>
            <a:chExt cx="1854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4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542000">
                  <a:moveTo>
                    <a:pt x="0" y="0"/>
                  </a:moveTo>
                  <a:lnTo>
                    <a:pt x="18542000" y="0"/>
                  </a:lnTo>
                  <a:lnTo>
                    <a:pt x="1854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" r="0" b="-92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2342" y="2573826"/>
            <a:ext cx="4800600" cy="5143500"/>
            <a:chOff x="0" y="0"/>
            <a:chExt cx="6400800" cy="685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08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4980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36823" y="357864"/>
            <a:ext cx="3114675" cy="1447800"/>
            <a:chOff x="0" y="0"/>
            <a:chExt cx="4152900" cy="193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529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74178" y="594636"/>
            <a:ext cx="172574" cy="904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0"/>
              </a:lnSpc>
            </a:pPr>
            <a:r>
              <a:rPr lang="en-US" b="true" sz="5328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51949" y="1417434"/>
            <a:ext cx="3241715" cy="82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799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TITLE PAGE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78117" y="594636"/>
            <a:ext cx="10965494" cy="904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0"/>
              </a:lnSpc>
            </a:pPr>
            <a:r>
              <a:rPr lang="en-US" b="true" sz="5328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INDIAHACKATHON 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0981" y="2230926"/>
            <a:ext cx="9496654" cy="779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3"/>
              </a:lnSpc>
            </a:pPr>
            <a:r>
              <a:rPr lang="en-US" sz="29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•Problem Statement ID -</a:t>
            </a:r>
            <a:r>
              <a:rPr lang="en-US" b="true" sz="29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26167</a:t>
            </a:r>
          </a:p>
          <a:p>
            <a:pPr algn="l">
              <a:lnSpc>
                <a:spcPts val="6973"/>
              </a:lnSpc>
            </a:pPr>
            <a:r>
              <a:rPr lang="en-US" b="true" sz="29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  <a:r>
              <a:rPr lang="en-US" sz="29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Title</a:t>
            </a:r>
            <a:r>
              <a:rPr lang="en-US" b="true" sz="29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- An interactive vision-language Assistant for multimodel remote sensing image Analysis through Text Queries</a:t>
            </a:r>
          </a:p>
          <a:p>
            <a:pPr algn="l">
              <a:lnSpc>
                <a:spcPts val="6973"/>
              </a:lnSpc>
            </a:pPr>
            <a:r>
              <a:rPr lang="en-US" b="true" sz="29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through Text Querie </a:t>
            </a:r>
          </a:p>
          <a:p>
            <a:pPr algn="l">
              <a:lnSpc>
                <a:spcPts val="6973"/>
              </a:lnSpc>
            </a:pPr>
            <a:r>
              <a:rPr lang="en-US" b="true" sz="29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  <a:r>
              <a:rPr lang="en-US" sz="29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</a:t>
            </a:r>
            <a:r>
              <a:rPr lang="en-US" b="true" sz="29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- space technology</a:t>
            </a:r>
          </a:p>
          <a:p>
            <a:pPr algn="l">
              <a:lnSpc>
                <a:spcPts val="6973"/>
              </a:lnSpc>
            </a:pPr>
            <a:r>
              <a:rPr lang="en-US" b="true" sz="29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  <a:r>
              <a:rPr lang="en-US" sz="29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 Category</a:t>
            </a:r>
            <a:r>
              <a:rPr lang="en-US" b="true" sz="29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- Software</a:t>
            </a:r>
          </a:p>
          <a:p>
            <a:pPr algn="l">
              <a:lnSpc>
                <a:spcPts val="6973"/>
              </a:lnSpc>
            </a:pPr>
            <a:r>
              <a:rPr lang="en-US" b="true" sz="29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•</a:t>
            </a:r>
            <a:r>
              <a:rPr lang="en-US" sz="29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ID</a:t>
            </a:r>
            <a:r>
              <a:rPr lang="en-US" b="true" sz="29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- </a:t>
            </a:r>
          </a:p>
          <a:p>
            <a:pPr algn="l">
              <a:lnSpc>
                <a:spcPts val="6973"/>
              </a:lnSpc>
            </a:pPr>
            <a:r>
              <a:rPr lang="en-US" b="true" sz="29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  <a:r>
              <a:rPr lang="en-US" sz="29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lang="en-US" b="true" sz="29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- THE AI-Vengers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02034" y="126835"/>
            <a:ext cx="2846881" cy="1447800"/>
            <a:chOff x="0" y="0"/>
            <a:chExt cx="3795841" cy="193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5841" cy="1930400"/>
            </a:xfrm>
            <a:custGeom>
              <a:avLst/>
              <a:gdLst/>
              <a:ahLst/>
              <a:cxnLst/>
              <a:rect r="r" b="b" t="t" l="l"/>
              <a:pathLst>
                <a:path h="1930400" w="3795841">
                  <a:moveTo>
                    <a:pt x="0" y="0"/>
                  </a:moveTo>
                  <a:lnTo>
                    <a:pt x="3795841" y="0"/>
                  </a:lnTo>
                  <a:lnTo>
                    <a:pt x="3795841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703" t="0" r="-470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5225" y="481774"/>
            <a:ext cx="2155774" cy="1393822"/>
            <a:chOff x="0" y="0"/>
            <a:chExt cx="2155774" cy="13938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1882" y="71882"/>
              <a:ext cx="2011936" cy="1249934"/>
            </a:xfrm>
            <a:custGeom>
              <a:avLst/>
              <a:gdLst/>
              <a:ahLst/>
              <a:cxnLst/>
              <a:rect r="r" b="b" t="t" l="l"/>
              <a:pathLst>
                <a:path h="1249934" w="2011936">
                  <a:moveTo>
                    <a:pt x="1005968" y="0"/>
                  </a:moveTo>
                  <a:cubicBezTo>
                    <a:pt x="1561720" y="0"/>
                    <a:pt x="2011936" y="279654"/>
                    <a:pt x="2011936" y="624967"/>
                  </a:cubicBezTo>
                  <a:cubicBezTo>
                    <a:pt x="2011936" y="970280"/>
                    <a:pt x="1561339" y="1249934"/>
                    <a:pt x="1005968" y="1249934"/>
                  </a:cubicBezTo>
                  <a:cubicBezTo>
                    <a:pt x="450596" y="1249934"/>
                    <a:pt x="0" y="970280"/>
                    <a:pt x="0" y="625094"/>
                  </a:cubicBezTo>
                  <a:cubicBezTo>
                    <a:pt x="0" y="279908"/>
                    <a:pt x="450596" y="0"/>
                    <a:pt x="10059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2028700" cy="1266825"/>
            </a:xfrm>
            <a:custGeom>
              <a:avLst/>
              <a:gdLst/>
              <a:ahLst/>
              <a:cxnLst/>
              <a:rect r="r" b="b" t="t" l="l"/>
              <a:pathLst>
                <a:path h="1266825" w="2028700">
                  <a:moveTo>
                    <a:pt x="1014350" y="1266825"/>
                  </a:moveTo>
                  <a:cubicBezTo>
                    <a:pt x="744094" y="1266825"/>
                    <a:pt x="489966" y="1201293"/>
                    <a:pt x="298577" y="1082421"/>
                  </a:cubicBezTo>
                  <a:cubicBezTo>
                    <a:pt x="106172" y="962787"/>
                    <a:pt x="0" y="803275"/>
                    <a:pt x="0" y="633476"/>
                  </a:cubicBezTo>
                  <a:cubicBezTo>
                    <a:pt x="0" y="463677"/>
                    <a:pt x="106172" y="304165"/>
                    <a:pt x="298577" y="184531"/>
                  </a:cubicBezTo>
                  <a:cubicBezTo>
                    <a:pt x="489966" y="65532"/>
                    <a:pt x="744094" y="0"/>
                    <a:pt x="1014350" y="0"/>
                  </a:cubicBezTo>
                  <a:cubicBezTo>
                    <a:pt x="1284606" y="0"/>
                    <a:pt x="1538733" y="65532"/>
                    <a:pt x="1730122" y="184404"/>
                  </a:cubicBezTo>
                  <a:cubicBezTo>
                    <a:pt x="1922908" y="304038"/>
                    <a:pt x="2028700" y="463423"/>
                    <a:pt x="2028700" y="633349"/>
                  </a:cubicBezTo>
                  <a:cubicBezTo>
                    <a:pt x="2028700" y="803275"/>
                    <a:pt x="1922527" y="962660"/>
                    <a:pt x="1730122" y="1082294"/>
                  </a:cubicBezTo>
                  <a:cubicBezTo>
                    <a:pt x="1538987" y="1201166"/>
                    <a:pt x="1284606" y="1266698"/>
                    <a:pt x="1014350" y="1266698"/>
                  </a:cubicBezTo>
                  <a:close/>
                  <a:moveTo>
                    <a:pt x="1014350" y="16764"/>
                  </a:moveTo>
                  <a:cubicBezTo>
                    <a:pt x="464439" y="16891"/>
                    <a:pt x="16891" y="293624"/>
                    <a:pt x="16891" y="633476"/>
                  </a:cubicBezTo>
                  <a:cubicBezTo>
                    <a:pt x="16891" y="973328"/>
                    <a:pt x="464439" y="1249934"/>
                    <a:pt x="1014477" y="1249934"/>
                  </a:cubicBezTo>
                  <a:cubicBezTo>
                    <a:pt x="1564514" y="1249934"/>
                    <a:pt x="2012063" y="973201"/>
                    <a:pt x="2012063" y="633476"/>
                  </a:cubicBezTo>
                  <a:cubicBezTo>
                    <a:pt x="2012063" y="293751"/>
                    <a:pt x="1564768" y="16891"/>
                    <a:pt x="1014350" y="16891"/>
                  </a:cubicBezTo>
                  <a:close/>
                </a:path>
              </a:pathLst>
            </a:custGeom>
            <a:solidFill>
              <a:srgbClr val="07040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545268"/>
            <a:ext cx="2027187" cy="1262786"/>
            <a:chOff x="0" y="0"/>
            <a:chExt cx="2027187" cy="12627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7175" cy="1262766"/>
            </a:xfrm>
            <a:custGeom>
              <a:avLst/>
              <a:gdLst/>
              <a:ahLst/>
              <a:cxnLst/>
              <a:rect r="r" b="b" t="t" l="l"/>
              <a:pathLst>
                <a:path h="1262766" w="2027175">
                  <a:moveTo>
                    <a:pt x="0" y="1262766"/>
                  </a:moveTo>
                  <a:lnTo>
                    <a:pt x="2027175" y="1262766"/>
                  </a:lnTo>
                  <a:lnTo>
                    <a:pt x="20271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593046" y="136050"/>
            <a:ext cx="6666254" cy="10388686"/>
          </a:xfrm>
          <a:custGeom>
            <a:avLst/>
            <a:gdLst/>
            <a:ahLst/>
            <a:cxnLst/>
            <a:rect r="r" b="b" t="t" l="l"/>
            <a:pathLst>
              <a:path h="10388686" w="6666254">
                <a:moveTo>
                  <a:pt x="0" y="0"/>
                </a:moveTo>
                <a:lnTo>
                  <a:pt x="6666254" y="0"/>
                </a:lnTo>
                <a:lnTo>
                  <a:pt x="6666254" y="10388686"/>
                </a:lnTo>
                <a:lnTo>
                  <a:pt x="0" y="10388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6" t="-971" r="-1205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72700" y="619125"/>
            <a:ext cx="173105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IDEA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2768" y="888611"/>
            <a:ext cx="1700689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AI-VENGERS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9888" y="4814583"/>
            <a:ext cx="1245841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1578" y="5418468"/>
            <a:ext cx="9171468" cy="431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4846" indent="-262423" lvl="1">
              <a:lnSpc>
                <a:spcPts val="3376"/>
              </a:lnSpc>
              <a:buFont typeface="Arial"/>
              <a:buChar char="•"/>
            </a:pPr>
            <a:r>
              <a:rPr lang="en-US" sz="24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Single-image visual question answering (VQA)</a:t>
            </a:r>
          </a:p>
          <a:p>
            <a:pPr algn="l" marL="524846" indent="-262423" lvl="1">
              <a:lnSpc>
                <a:spcPts val="3376"/>
              </a:lnSpc>
              <a:buFont typeface="Arial"/>
              <a:buChar char="•"/>
            </a:pPr>
            <a:r>
              <a:rPr lang="en-US" sz="24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Captioning / scene description or text-guided region grounding</a:t>
            </a:r>
          </a:p>
          <a:p>
            <a:pPr algn="l" marL="524846" indent="-262423" lvl="1">
              <a:lnSpc>
                <a:spcPts val="3376"/>
              </a:lnSpc>
              <a:buFont typeface="Arial"/>
              <a:buChar char="•"/>
            </a:pPr>
            <a:r>
              <a:rPr lang="en-US" sz="24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Bi-temporal change description and change-based VQA</a:t>
            </a:r>
          </a:p>
          <a:p>
            <a:pPr algn="l" marL="524846" indent="-262423" lvl="1">
              <a:lnSpc>
                <a:spcPts val="3376"/>
              </a:lnSpc>
              <a:buFont typeface="Arial"/>
              <a:buChar char="•"/>
            </a:pPr>
            <a:r>
              <a:rPr lang="en-US" sz="24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Optical/multispectral + SAR joint analysis</a:t>
            </a:r>
          </a:p>
          <a:p>
            <a:pPr algn="l" marL="524846" indent="-262423" lvl="1">
              <a:lnSpc>
                <a:spcPts val="3376"/>
              </a:lnSpc>
              <a:buFont typeface="Arial"/>
              <a:buChar char="•"/>
            </a:pPr>
            <a:r>
              <a:rPr lang="en-US" sz="24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Automatic specialist model/tool selection</a:t>
            </a:r>
          </a:p>
          <a:p>
            <a:pPr algn="l" marL="524846" indent="-262423" lvl="1">
              <a:lnSpc>
                <a:spcPts val="3376"/>
              </a:lnSpc>
              <a:buFont typeface="Arial"/>
              <a:buChar char="•"/>
            </a:pPr>
            <a:r>
              <a:rPr lang="en-US" sz="24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Visual evidence, confidence and execution summary</a:t>
            </a:r>
          </a:p>
          <a:p>
            <a:pPr algn="l" marL="524846" indent="-262423" lvl="1">
              <a:lnSpc>
                <a:spcPts val="3376"/>
              </a:lnSpc>
              <a:buFont typeface="Arial"/>
              <a:buChar char="•"/>
            </a:pPr>
            <a:r>
              <a:rPr lang="en-US" sz="24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SATQUERY AI</a:t>
            </a:r>
          </a:p>
          <a:p>
            <a:pPr algn="l" marL="524846" indent="-262423" lvl="1">
              <a:lnSpc>
                <a:spcPts val="3376"/>
              </a:lnSpc>
              <a:buFont typeface="Arial"/>
              <a:buChar char="•"/>
            </a:pPr>
            <a:r>
              <a:rPr lang="en-US" sz="24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What changed between these images?</a:t>
            </a:r>
          </a:p>
          <a:p>
            <a:pPr algn="l" marL="524846" indent="-262423" lvl="1">
              <a:lnSpc>
                <a:spcPts val="3376"/>
              </a:lnSpc>
              <a:buFont typeface="Arial"/>
              <a:buChar char="•"/>
            </a:pPr>
            <a:r>
              <a:rPr lang="en-US" sz="24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Ask</a:t>
            </a:r>
          </a:p>
          <a:p>
            <a:pPr algn="l" marL="524846" indent="-262423" lvl="1">
              <a:lnSpc>
                <a:spcPts val="3376"/>
              </a:lnSpc>
              <a:buFont typeface="Arial"/>
              <a:buChar char="•"/>
            </a:pPr>
            <a:r>
              <a:rPr lang="en-US" sz="24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Optical + SAR pair detected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896356"/>
            <a:ext cx="10477252" cy="242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</a:p>
          <a:p>
            <a:pPr algn="l">
              <a:lnSpc>
                <a:spcPts val="375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SatQuery AI is an interactive, agentic vision-language assistant for analysing single and pairedremote-sensing images through natural language queries. It selects suitable specialist models and returns evidence-grounded textual and visual results.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96367" y="-26027"/>
            <a:ext cx="3114675" cy="1447800"/>
            <a:chOff x="0" y="0"/>
            <a:chExt cx="4152900" cy="193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529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886" y="-202873"/>
            <a:ext cx="2155803" cy="1393822"/>
            <a:chOff x="0" y="0"/>
            <a:chExt cx="2155800" cy="13938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009" y="72009"/>
              <a:ext cx="2011935" cy="1249933"/>
            </a:xfrm>
            <a:custGeom>
              <a:avLst/>
              <a:gdLst/>
              <a:ahLst/>
              <a:cxnLst/>
              <a:rect r="r" b="b" t="t" l="l"/>
              <a:pathLst>
                <a:path h="1249933" w="2011935">
                  <a:moveTo>
                    <a:pt x="1005967" y="0"/>
                  </a:moveTo>
                  <a:cubicBezTo>
                    <a:pt x="1561720" y="0"/>
                    <a:pt x="2011935" y="279654"/>
                    <a:pt x="2011935" y="624967"/>
                  </a:cubicBezTo>
                  <a:cubicBezTo>
                    <a:pt x="2011935" y="970279"/>
                    <a:pt x="1561339" y="1249933"/>
                    <a:pt x="1005967" y="1249933"/>
                  </a:cubicBezTo>
                  <a:cubicBezTo>
                    <a:pt x="450596" y="1249933"/>
                    <a:pt x="0" y="970152"/>
                    <a:pt x="0" y="624967"/>
                  </a:cubicBezTo>
                  <a:cubicBezTo>
                    <a:pt x="0" y="279781"/>
                    <a:pt x="450469" y="0"/>
                    <a:pt x="10059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2028826" cy="1266824"/>
            </a:xfrm>
            <a:custGeom>
              <a:avLst/>
              <a:gdLst/>
              <a:ahLst/>
              <a:cxnLst/>
              <a:rect r="r" b="b" t="t" l="l"/>
              <a:pathLst>
                <a:path h="1266824" w="2028826">
                  <a:moveTo>
                    <a:pt x="1014476" y="1266824"/>
                  </a:moveTo>
                  <a:cubicBezTo>
                    <a:pt x="744220" y="1266824"/>
                    <a:pt x="490093" y="1201292"/>
                    <a:pt x="298704" y="1082420"/>
                  </a:cubicBezTo>
                  <a:cubicBezTo>
                    <a:pt x="106172" y="962786"/>
                    <a:pt x="0" y="803275"/>
                    <a:pt x="0" y="633476"/>
                  </a:cubicBezTo>
                  <a:cubicBezTo>
                    <a:pt x="0" y="463677"/>
                    <a:pt x="106172" y="304165"/>
                    <a:pt x="298577" y="184531"/>
                  </a:cubicBezTo>
                  <a:cubicBezTo>
                    <a:pt x="490093" y="65532"/>
                    <a:pt x="744093" y="0"/>
                    <a:pt x="1014476" y="0"/>
                  </a:cubicBezTo>
                  <a:cubicBezTo>
                    <a:pt x="1284859" y="0"/>
                    <a:pt x="1538860" y="65532"/>
                    <a:pt x="1730249" y="184404"/>
                  </a:cubicBezTo>
                  <a:cubicBezTo>
                    <a:pt x="1923035" y="304038"/>
                    <a:pt x="2028826" y="463423"/>
                    <a:pt x="2028826" y="633349"/>
                  </a:cubicBezTo>
                  <a:cubicBezTo>
                    <a:pt x="2028826" y="803275"/>
                    <a:pt x="1922654" y="962659"/>
                    <a:pt x="1730249" y="1082293"/>
                  </a:cubicBezTo>
                  <a:cubicBezTo>
                    <a:pt x="1539114" y="1201165"/>
                    <a:pt x="1284732" y="1266697"/>
                    <a:pt x="1014476" y="1266697"/>
                  </a:cubicBezTo>
                  <a:close/>
                  <a:moveTo>
                    <a:pt x="1014476" y="16764"/>
                  </a:moveTo>
                  <a:cubicBezTo>
                    <a:pt x="464439" y="16891"/>
                    <a:pt x="16891" y="293624"/>
                    <a:pt x="16891" y="633476"/>
                  </a:cubicBezTo>
                  <a:cubicBezTo>
                    <a:pt x="16891" y="973327"/>
                    <a:pt x="464439" y="1249933"/>
                    <a:pt x="1014476" y="1249933"/>
                  </a:cubicBezTo>
                  <a:cubicBezTo>
                    <a:pt x="1564514" y="1249933"/>
                    <a:pt x="2012062" y="973200"/>
                    <a:pt x="2012062" y="633476"/>
                  </a:cubicBezTo>
                  <a:cubicBezTo>
                    <a:pt x="2012062" y="293751"/>
                    <a:pt x="1564768" y="16891"/>
                    <a:pt x="1014476" y="16891"/>
                  </a:cubicBezTo>
                  <a:close/>
                </a:path>
              </a:pathLst>
            </a:custGeom>
            <a:solidFill>
              <a:srgbClr val="07040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2027175" cy="1262760"/>
            </a:xfrm>
            <a:custGeom>
              <a:avLst/>
              <a:gdLst/>
              <a:ahLst/>
              <a:cxnLst/>
              <a:rect r="r" b="b" t="t" l="l"/>
              <a:pathLst>
                <a:path h="1262760" w="2027175">
                  <a:moveTo>
                    <a:pt x="0" y="1262760"/>
                  </a:moveTo>
                  <a:lnTo>
                    <a:pt x="2027175" y="1262760"/>
                  </a:lnTo>
                  <a:lnTo>
                    <a:pt x="20271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307883" y="1513597"/>
            <a:ext cx="9359283" cy="8941750"/>
          </a:xfrm>
          <a:custGeom>
            <a:avLst/>
            <a:gdLst/>
            <a:ahLst/>
            <a:cxnLst/>
            <a:rect r="r" b="b" t="t" l="l"/>
            <a:pathLst>
              <a:path h="8941750" w="9359283">
                <a:moveTo>
                  <a:pt x="0" y="0"/>
                </a:moveTo>
                <a:lnTo>
                  <a:pt x="9359283" y="0"/>
                </a:lnTo>
                <a:lnTo>
                  <a:pt x="9359283" y="8941750"/>
                </a:lnTo>
                <a:lnTo>
                  <a:pt x="0" y="894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42" r="-1800" b="-40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81504" y="38271"/>
            <a:ext cx="7629525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SYSTEM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2427" y="185428"/>
            <a:ext cx="138672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AI-Venger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16594" y="5698569"/>
            <a:ext cx="43958" cy="285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b="true" sz="150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8647" y="7755017"/>
            <a:ext cx="43958" cy="285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b="true" sz="150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98701" y="303600"/>
            <a:ext cx="3114675" cy="1447800"/>
            <a:chOff x="0" y="0"/>
            <a:chExt cx="4152900" cy="193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529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2425" y="344529"/>
            <a:ext cx="2155803" cy="1393822"/>
            <a:chOff x="0" y="0"/>
            <a:chExt cx="2155800" cy="13938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009" y="72009"/>
              <a:ext cx="2011935" cy="1249933"/>
            </a:xfrm>
            <a:custGeom>
              <a:avLst/>
              <a:gdLst/>
              <a:ahLst/>
              <a:cxnLst/>
              <a:rect r="r" b="b" t="t" l="l"/>
              <a:pathLst>
                <a:path h="1249933" w="2011935">
                  <a:moveTo>
                    <a:pt x="1005967" y="0"/>
                  </a:moveTo>
                  <a:cubicBezTo>
                    <a:pt x="1561720" y="0"/>
                    <a:pt x="2011935" y="279654"/>
                    <a:pt x="2011935" y="624967"/>
                  </a:cubicBezTo>
                  <a:cubicBezTo>
                    <a:pt x="2011935" y="970279"/>
                    <a:pt x="1561339" y="1249933"/>
                    <a:pt x="1005967" y="1249933"/>
                  </a:cubicBezTo>
                  <a:cubicBezTo>
                    <a:pt x="450596" y="1249933"/>
                    <a:pt x="0" y="970152"/>
                    <a:pt x="0" y="624967"/>
                  </a:cubicBezTo>
                  <a:cubicBezTo>
                    <a:pt x="0" y="279781"/>
                    <a:pt x="450469" y="0"/>
                    <a:pt x="10059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2028826" cy="1266824"/>
            </a:xfrm>
            <a:custGeom>
              <a:avLst/>
              <a:gdLst/>
              <a:ahLst/>
              <a:cxnLst/>
              <a:rect r="r" b="b" t="t" l="l"/>
              <a:pathLst>
                <a:path h="1266824" w="2028826">
                  <a:moveTo>
                    <a:pt x="1014476" y="1266824"/>
                  </a:moveTo>
                  <a:cubicBezTo>
                    <a:pt x="744220" y="1266824"/>
                    <a:pt x="490093" y="1201292"/>
                    <a:pt x="298704" y="1082420"/>
                  </a:cubicBezTo>
                  <a:cubicBezTo>
                    <a:pt x="106172" y="962786"/>
                    <a:pt x="0" y="803275"/>
                    <a:pt x="0" y="633476"/>
                  </a:cubicBezTo>
                  <a:cubicBezTo>
                    <a:pt x="0" y="463677"/>
                    <a:pt x="106172" y="304165"/>
                    <a:pt x="298577" y="184531"/>
                  </a:cubicBezTo>
                  <a:cubicBezTo>
                    <a:pt x="490093" y="65532"/>
                    <a:pt x="744093" y="0"/>
                    <a:pt x="1014476" y="0"/>
                  </a:cubicBezTo>
                  <a:cubicBezTo>
                    <a:pt x="1284860" y="0"/>
                    <a:pt x="1538860" y="65532"/>
                    <a:pt x="1730249" y="184404"/>
                  </a:cubicBezTo>
                  <a:cubicBezTo>
                    <a:pt x="1923035" y="304038"/>
                    <a:pt x="2028826" y="463423"/>
                    <a:pt x="2028826" y="633349"/>
                  </a:cubicBezTo>
                  <a:cubicBezTo>
                    <a:pt x="2028826" y="803275"/>
                    <a:pt x="1922654" y="962659"/>
                    <a:pt x="1730249" y="1082293"/>
                  </a:cubicBezTo>
                  <a:cubicBezTo>
                    <a:pt x="1539114" y="1201165"/>
                    <a:pt x="1284733" y="1266697"/>
                    <a:pt x="1014476" y="1266697"/>
                  </a:cubicBezTo>
                  <a:close/>
                  <a:moveTo>
                    <a:pt x="1014476" y="16764"/>
                  </a:moveTo>
                  <a:cubicBezTo>
                    <a:pt x="464439" y="16891"/>
                    <a:pt x="16891" y="293624"/>
                    <a:pt x="16891" y="633476"/>
                  </a:cubicBezTo>
                  <a:cubicBezTo>
                    <a:pt x="16891" y="973327"/>
                    <a:pt x="464439" y="1249933"/>
                    <a:pt x="1014476" y="1249933"/>
                  </a:cubicBezTo>
                  <a:cubicBezTo>
                    <a:pt x="1564514" y="1249933"/>
                    <a:pt x="2012062" y="973200"/>
                    <a:pt x="2012062" y="633476"/>
                  </a:cubicBezTo>
                  <a:cubicBezTo>
                    <a:pt x="2012062" y="293751"/>
                    <a:pt x="1564768" y="16891"/>
                    <a:pt x="1014476" y="16891"/>
                  </a:cubicBezTo>
                  <a:close/>
                </a:path>
              </a:pathLst>
            </a:custGeom>
            <a:solidFill>
              <a:srgbClr val="07040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2027175" cy="1262760"/>
            </a:xfrm>
            <a:custGeom>
              <a:avLst/>
              <a:gdLst/>
              <a:ahLst/>
              <a:cxnLst/>
              <a:rect r="r" b="b" t="t" l="l"/>
              <a:pathLst>
                <a:path h="1262760" w="2027175">
                  <a:moveTo>
                    <a:pt x="0" y="1262760"/>
                  </a:moveTo>
                  <a:lnTo>
                    <a:pt x="2027175" y="1262760"/>
                  </a:lnTo>
                  <a:lnTo>
                    <a:pt x="20271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78812" y="5742408"/>
            <a:ext cx="17234564" cy="4544592"/>
          </a:xfrm>
          <a:custGeom>
            <a:avLst/>
            <a:gdLst/>
            <a:ahLst/>
            <a:cxnLst/>
            <a:rect r="r" b="b" t="t" l="l"/>
            <a:pathLst>
              <a:path h="4544592" w="17234564">
                <a:moveTo>
                  <a:pt x="0" y="0"/>
                </a:moveTo>
                <a:lnTo>
                  <a:pt x="17234564" y="0"/>
                </a:lnTo>
                <a:lnTo>
                  <a:pt x="17234564" y="4544592"/>
                </a:lnTo>
                <a:lnTo>
                  <a:pt x="0" y="4544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205" r="0" b="-1320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96704" y="672884"/>
            <a:ext cx="7525931" cy="95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TECHNICAL APPROACH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9934" y="732830"/>
            <a:ext cx="152078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AI-Vengers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0327" y="1970455"/>
            <a:ext cx="10269103" cy="405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999" indent="-276999" lvl="1">
              <a:lnSpc>
                <a:spcPts val="3589"/>
              </a:lnSpc>
              <a:buFont typeface="Arial"/>
              <a:buChar char="•"/>
            </a:pPr>
            <a:r>
              <a:rPr lang="en-US" sz="25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Input &amp; Compatibility: image count, modality, format, metadata and pairing</a:t>
            </a:r>
          </a:p>
          <a:p>
            <a:pPr algn="l" marL="553999" indent="-276999" lvl="1">
              <a:lnSpc>
                <a:spcPts val="3589"/>
              </a:lnSpc>
              <a:buFont typeface="Arial"/>
              <a:buChar char="•"/>
            </a:pPr>
            <a:r>
              <a:rPr lang="en-US" sz="25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Query Understanding: classify VQA, captioning, grounding or change analysis</a:t>
            </a:r>
          </a:p>
          <a:p>
            <a:pPr algn="l" marL="553999" indent="-276999" lvl="1">
              <a:lnSpc>
                <a:spcPts val="3589"/>
              </a:lnSpc>
              <a:buFont typeface="Arial"/>
              <a:buChar char="•"/>
            </a:pPr>
            <a:r>
              <a:rPr lang="en-US" sz="25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Agentic Controller: select and sequence specialist models/tools</a:t>
            </a:r>
          </a:p>
          <a:p>
            <a:pPr algn="l" marL="553999" indent="-276999" lvl="1">
              <a:lnSpc>
                <a:spcPts val="3589"/>
              </a:lnSpc>
              <a:buFont typeface="Arial"/>
              <a:buChar char="•"/>
            </a:pPr>
            <a:r>
              <a:rPr lang="en-US" sz="25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Specialist Models: VQA, captioning/grounding, change and optical-SAR fusion</a:t>
            </a:r>
          </a:p>
          <a:p>
            <a:pPr algn="l" marL="553999" indent="-276999" lvl="1">
              <a:lnSpc>
                <a:spcPts val="3589"/>
              </a:lnSpc>
              <a:buFont typeface="Arial"/>
              <a:buChar char="•"/>
            </a:pPr>
            <a:r>
              <a:rPr lang="en-US" sz="25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Output Integration: textual + spatial evidence and confidence</a:t>
            </a:r>
          </a:p>
          <a:p>
            <a:pPr algn="l" marL="553999" indent="-276999" lvl="1">
              <a:lnSpc>
                <a:spcPts val="3589"/>
              </a:lnSpc>
              <a:buFont typeface="Arial"/>
              <a:buChar char="•"/>
            </a:pPr>
            <a:r>
              <a:rPr lang="en-US" sz="25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Audit &amp; Report: selected task, models/tools, parameters and outputs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5197" y="481774"/>
            <a:ext cx="2155803" cy="1393822"/>
            <a:chOff x="0" y="0"/>
            <a:chExt cx="2155800" cy="1393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009" y="72009"/>
              <a:ext cx="2011935" cy="1249933"/>
            </a:xfrm>
            <a:custGeom>
              <a:avLst/>
              <a:gdLst/>
              <a:ahLst/>
              <a:cxnLst/>
              <a:rect r="r" b="b" t="t" l="l"/>
              <a:pathLst>
                <a:path h="1249933" w="2011935">
                  <a:moveTo>
                    <a:pt x="1005967" y="0"/>
                  </a:moveTo>
                  <a:cubicBezTo>
                    <a:pt x="1561720" y="0"/>
                    <a:pt x="2011935" y="279654"/>
                    <a:pt x="2011935" y="624967"/>
                  </a:cubicBezTo>
                  <a:cubicBezTo>
                    <a:pt x="2011935" y="970279"/>
                    <a:pt x="1561339" y="1249933"/>
                    <a:pt x="1005967" y="1249933"/>
                  </a:cubicBezTo>
                  <a:cubicBezTo>
                    <a:pt x="450596" y="1249933"/>
                    <a:pt x="0" y="970152"/>
                    <a:pt x="0" y="624967"/>
                  </a:cubicBezTo>
                  <a:cubicBezTo>
                    <a:pt x="0" y="279781"/>
                    <a:pt x="450469" y="0"/>
                    <a:pt x="10059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2028826" cy="1266824"/>
            </a:xfrm>
            <a:custGeom>
              <a:avLst/>
              <a:gdLst/>
              <a:ahLst/>
              <a:cxnLst/>
              <a:rect r="r" b="b" t="t" l="l"/>
              <a:pathLst>
                <a:path h="1266824" w="2028826">
                  <a:moveTo>
                    <a:pt x="1014476" y="1266824"/>
                  </a:moveTo>
                  <a:cubicBezTo>
                    <a:pt x="744220" y="1266824"/>
                    <a:pt x="490093" y="1201292"/>
                    <a:pt x="298704" y="1082420"/>
                  </a:cubicBezTo>
                  <a:cubicBezTo>
                    <a:pt x="106172" y="962786"/>
                    <a:pt x="0" y="803275"/>
                    <a:pt x="0" y="633476"/>
                  </a:cubicBezTo>
                  <a:cubicBezTo>
                    <a:pt x="0" y="463677"/>
                    <a:pt x="106172" y="304165"/>
                    <a:pt x="298577" y="184531"/>
                  </a:cubicBezTo>
                  <a:cubicBezTo>
                    <a:pt x="490093" y="65532"/>
                    <a:pt x="744093" y="0"/>
                    <a:pt x="1014476" y="0"/>
                  </a:cubicBezTo>
                  <a:cubicBezTo>
                    <a:pt x="1284859" y="0"/>
                    <a:pt x="1538860" y="65532"/>
                    <a:pt x="1730249" y="184404"/>
                  </a:cubicBezTo>
                  <a:cubicBezTo>
                    <a:pt x="1923035" y="304038"/>
                    <a:pt x="2028826" y="463423"/>
                    <a:pt x="2028826" y="633349"/>
                  </a:cubicBezTo>
                  <a:cubicBezTo>
                    <a:pt x="2028826" y="803275"/>
                    <a:pt x="1922654" y="962659"/>
                    <a:pt x="1730249" y="1082293"/>
                  </a:cubicBezTo>
                  <a:cubicBezTo>
                    <a:pt x="1539114" y="1201165"/>
                    <a:pt x="1284732" y="1266697"/>
                    <a:pt x="1014476" y="1266697"/>
                  </a:cubicBezTo>
                  <a:close/>
                  <a:moveTo>
                    <a:pt x="1014476" y="16764"/>
                  </a:moveTo>
                  <a:cubicBezTo>
                    <a:pt x="464439" y="16891"/>
                    <a:pt x="16891" y="293624"/>
                    <a:pt x="16891" y="633476"/>
                  </a:cubicBezTo>
                  <a:cubicBezTo>
                    <a:pt x="16891" y="973327"/>
                    <a:pt x="464439" y="1249933"/>
                    <a:pt x="1014476" y="1249933"/>
                  </a:cubicBezTo>
                  <a:cubicBezTo>
                    <a:pt x="1564514" y="1249933"/>
                    <a:pt x="2012062" y="973200"/>
                    <a:pt x="2012062" y="633476"/>
                  </a:cubicBezTo>
                  <a:cubicBezTo>
                    <a:pt x="2012062" y="293751"/>
                    <a:pt x="1564768" y="16891"/>
                    <a:pt x="1014476" y="16891"/>
                  </a:cubicBezTo>
                  <a:close/>
                </a:path>
              </a:pathLst>
            </a:custGeom>
            <a:solidFill>
              <a:srgbClr val="070404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2027175" cy="1262760"/>
            </a:xfrm>
            <a:custGeom>
              <a:avLst/>
              <a:gdLst/>
              <a:ahLst/>
              <a:cxnLst/>
              <a:rect r="r" b="b" t="t" l="l"/>
              <a:pathLst>
                <a:path h="1262760" w="2027175">
                  <a:moveTo>
                    <a:pt x="0" y="1262760"/>
                  </a:moveTo>
                  <a:lnTo>
                    <a:pt x="2027175" y="1262760"/>
                  </a:lnTo>
                  <a:lnTo>
                    <a:pt x="20271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3755887"/>
            <a:ext cx="9562478" cy="6838705"/>
          </a:xfrm>
          <a:custGeom>
            <a:avLst/>
            <a:gdLst/>
            <a:ahLst/>
            <a:cxnLst/>
            <a:rect r="r" b="b" t="t" l="l"/>
            <a:pathLst>
              <a:path h="6838705" w="9562478">
                <a:moveTo>
                  <a:pt x="0" y="0"/>
                </a:moveTo>
                <a:lnTo>
                  <a:pt x="9562478" y="0"/>
                </a:lnTo>
                <a:lnTo>
                  <a:pt x="9562478" y="6838705"/>
                </a:lnTo>
                <a:lnTo>
                  <a:pt x="0" y="6838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673" t="-2980" r="-279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77281" y="704869"/>
            <a:ext cx="7033317" cy="95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IMPACT AND BENEFIT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2754" y="922725"/>
            <a:ext cx="1700689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AI-VENGERS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21000" y="2058886"/>
            <a:ext cx="1129198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33476" y="2462746"/>
            <a:ext cx="73209" cy="46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26393" y="6259242"/>
            <a:ext cx="1194606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BENEFIT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2472271"/>
            <a:ext cx="12655590" cy="329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359" indent="-227679" lvl="1">
              <a:lnSpc>
                <a:spcPts val="2910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Democratizes Remote Sensing – Enables non-experts to analyse satellite imagery using simple natural-language queries.</a:t>
            </a:r>
          </a:p>
          <a:p>
            <a:pPr algn="l" marL="455359" indent="-227679" lvl="1">
              <a:lnSpc>
                <a:spcPts val="2910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Faster Decision Making – Reduces manual GIS workflows and model-selection effort.</a:t>
            </a:r>
          </a:p>
          <a:p>
            <a:pPr algn="l" marL="455359" indent="-227679" lvl="1">
              <a:lnSpc>
                <a:spcPts val="2910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Multimodal Intelligence – Combines Optical + SAR data for more reliable interpretation.</a:t>
            </a:r>
          </a:p>
          <a:p>
            <a:pPr algn="l" marL="455359" indent="-227679" lvl="1">
              <a:lnSpc>
                <a:spcPts val="2910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Change Monitoring – Identifies and explains changes across different dates.</a:t>
            </a:r>
          </a:p>
          <a:p>
            <a:pPr algn="l" marL="455359" indent="-227679" lvl="1">
              <a:lnSpc>
                <a:spcPts val="2910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Evidence-Based Analysis – Provides visual evidence, confidence scores, and execution summaries.</a:t>
            </a:r>
          </a:p>
          <a:p>
            <a:pPr algn="l" marL="455359" indent="-227679" lvl="1">
              <a:lnSpc>
                <a:spcPts val="2910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Scalable Applications – Useful for agriculture, disaster management, urban planning, forestry, water resources, and infrastructure monitoring.</a:t>
            </a:r>
          </a:p>
          <a:p>
            <a:pPr algn="l">
              <a:lnSpc>
                <a:spcPts val="291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062228" y="5001716"/>
            <a:ext cx="1236473" cy="113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b="true" sz="213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 I mppaacct 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55798" y="4882801"/>
            <a:ext cx="684752" cy="3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2"/>
              </a:lnSpc>
            </a:pPr>
            <a:r>
              <a:rPr lang="en-US" b="true" sz="1758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Benefit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4237" y="7070465"/>
            <a:ext cx="10865396" cy="241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Easy &amp; Fast – Simple natural-language queries.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Multimodal – Combines Optical + SAR data.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Accurate – Evidence-based results.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– Selects the right AI model.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Wide Impact – Agriculture, disasters, urban planning &amp; more.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298701" y="303600"/>
            <a:ext cx="3114675" cy="1447800"/>
            <a:chOff x="0" y="0"/>
            <a:chExt cx="4152900" cy="1930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529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51073" y="357864"/>
            <a:ext cx="3114675" cy="1447800"/>
            <a:chOff x="0" y="0"/>
            <a:chExt cx="4152900" cy="193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529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0598" y="236191"/>
            <a:ext cx="2548433" cy="1635366"/>
            <a:chOff x="0" y="0"/>
            <a:chExt cx="2548433" cy="16353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3533" y="73533"/>
              <a:ext cx="2399287" cy="1484885"/>
            </a:xfrm>
            <a:custGeom>
              <a:avLst/>
              <a:gdLst/>
              <a:ahLst/>
              <a:cxnLst/>
              <a:rect r="r" b="b" t="t" l="l"/>
              <a:pathLst>
                <a:path h="1484885" w="2399287">
                  <a:moveTo>
                    <a:pt x="1199644" y="0"/>
                  </a:moveTo>
                  <a:cubicBezTo>
                    <a:pt x="1862331" y="0"/>
                    <a:pt x="2399288" y="332232"/>
                    <a:pt x="2399288" y="742442"/>
                  </a:cubicBezTo>
                  <a:cubicBezTo>
                    <a:pt x="2399288" y="1152653"/>
                    <a:pt x="1861950" y="1484885"/>
                    <a:pt x="1199644" y="1484885"/>
                  </a:cubicBezTo>
                  <a:cubicBezTo>
                    <a:pt x="537338" y="1484885"/>
                    <a:pt x="0" y="1152653"/>
                    <a:pt x="0" y="742442"/>
                  </a:cubicBezTo>
                  <a:cubicBezTo>
                    <a:pt x="0" y="332232"/>
                    <a:pt x="537338" y="0"/>
                    <a:pt x="11996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2419353" cy="1504951"/>
            </a:xfrm>
            <a:custGeom>
              <a:avLst/>
              <a:gdLst/>
              <a:ahLst/>
              <a:cxnLst/>
              <a:rect r="r" b="b" t="t" l="l"/>
              <a:pathLst>
                <a:path h="1504951" w="2419353">
                  <a:moveTo>
                    <a:pt x="1209677" y="1504951"/>
                  </a:moveTo>
                  <a:cubicBezTo>
                    <a:pt x="887350" y="1504951"/>
                    <a:pt x="584328" y="1427100"/>
                    <a:pt x="356109" y="1285876"/>
                  </a:cubicBezTo>
                  <a:cubicBezTo>
                    <a:pt x="126619" y="1143763"/>
                    <a:pt x="0" y="954279"/>
                    <a:pt x="0" y="752475"/>
                  </a:cubicBezTo>
                  <a:cubicBezTo>
                    <a:pt x="0" y="550672"/>
                    <a:pt x="126619" y="361188"/>
                    <a:pt x="356109" y="219075"/>
                  </a:cubicBezTo>
                  <a:cubicBezTo>
                    <a:pt x="584328" y="77851"/>
                    <a:pt x="887350" y="0"/>
                    <a:pt x="1209677" y="0"/>
                  </a:cubicBezTo>
                  <a:cubicBezTo>
                    <a:pt x="1532003" y="0"/>
                    <a:pt x="1835026" y="77851"/>
                    <a:pt x="2063245" y="219075"/>
                  </a:cubicBezTo>
                  <a:cubicBezTo>
                    <a:pt x="2293115" y="361188"/>
                    <a:pt x="2419353" y="550545"/>
                    <a:pt x="2419353" y="752475"/>
                  </a:cubicBezTo>
                  <a:cubicBezTo>
                    <a:pt x="2419353" y="954406"/>
                    <a:pt x="2292734" y="1143763"/>
                    <a:pt x="2063245" y="1285876"/>
                  </a:cubicBezTo>
                  <a:cubicBezTo>
                    <a:pt x="1835407" y="1427100"/>
                    <a:pt x="1532003" y="1504951"/>
                    <a:pt x="1209677" y="1504951"/>
                  </a:cubicBezTo>
                  <a:close/>
                  <a:moveTo>
                    <a:pt x="1209677" y="20066"/>
                  </a:moveTo>
                  <a:cubicBezTo>
                    <a:pt x="553848" y="20066"/>
                    <a:pt x="20193" y="348742"/>
                    <a:pt x="20193" y="752475"/>
                  </a:cubicBezTo>
                  <a:cubicBezTo>
                    <a:pt x="20193" y="1156209"/>
                    <a:pt x="553848" y="1484885"/>
                    <a:pt x="1209677" y="1484885"/>
                  </a:cubicBezTo>
                  <a:cubicBezTo>
                    <a:pt x="1865506" y="1484885"/>
                    <a:pt x="2399161" y="1156209"/>
                    <a:pt x="2399161" y="752475"/>
                  </a:cubicBezTo>
                  <a:cubicBezTo>
                    <a:pt x="2399161" y="348742"/>
                    <a:pt x="1865887" y="20066"/>
                    <a:pt x="1209677" y="20066"/>
                  </a:cubicBezTo>
                  <a:close/>
                </a:path>
              </a:pathLst>
            </a:custGeom>
            <a:solidFill>
              <a:srgbClr val="07040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2421385" cy="1508380"/>
            </a:xfrm>
            <a:custGeom>
              <a:avLst/>
              <a:gdLst/>
              <a:ahLst/>
              <a:cxnLst/>
              <a:rect r="r" b="b" t="t" l="l"/>
              <a:pathLst>
                <a:path h="1508380" w="2421385">
                  <a:moveTo>
                    <a:pt x="0" y="1508380"/>
                  </a:moveTo>
                  <a:lnTo>
                    <a:pt x="2421386" y="1508380"/>
                  </a:lnTo>
                  <a:lnTo>
                    <a:pt x="24213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44098" y="2809875"/>
            <a:ext cx="16212797" cy="644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BigEarthNet.txt – Multi-Sensor Image-Text Dataset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Herzog et al., 2026 — supports remote-sensing VLM/domain adaptation and Optical + SAR image-text learning. 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RSVQA – Visual Question Answering for Remote Sensing Data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Lobry et al., IEEE TGRS, 2020 — supports natural-language queries over satellite images. 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Change Detection Meets Visual Question Answering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Yuan et al., IEEE TGRS, 2022 — supports bi-temporal change analysis + question answering. 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Change Detection Question Answering and Grounding (CDQAG)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Li et al., 2024 — supports textual answers + visual change masks/evidence. 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BigEarthNet – Large-Scale Remote Sensing Benchmark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Sumbul et al., 2019 — supports remote-sensing image understanding and model training.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554259" y="1359113"/>
            <a:ext cx="8342948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Research And </a:t>
            </a:r>
            <a:r>
              <a:rPr lang="en-US" sz="540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References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4098" y="741045"/>
            <a:ext cx="152078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AI-Vengers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DAHUxcDwf3g</dc:identifier>
  <dcterms:modified xsi:type="dcterms:W3CDTF">2011-08-01T06:04:30Z</dcterms:modified>
  <cp:revision>1</cp:revision>
  <dc:title>SIH.pdf</dc:title>
</cp:coreProperties>
</file>